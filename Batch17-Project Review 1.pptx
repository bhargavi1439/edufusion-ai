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19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19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19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19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19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19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19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Thursday, August 20</a:t>
            </a:r>
            <a:r>
              <a:rPr lang="en-IN" sz="2000" b="1" baseline="30000" dirty="0">
                <a:solidFill>
                  <a:srgbClr val="FF0000"/>
                </a:solidFill>
                <a:latin typeface="Times New Roman" panose="02020603050405020304" pitchFamily="18" charset="0"/>
                <a:cs typeface="Times New Roman" panose="02020603050405020304" pitchFamily="18" charset="0"/>
              </a:rPr>
              <a:t>th</a:t>
            </a:r>
            <a:r>
              <a:rPr lang="en-IN" sz="2000" b="1" dirty="0">
                <a:solidFill>
                  <a:srgbClr val="FF0000"/>
                </a:solidFill>
                <a:latin typeface="Times New Roman" panose="02020603050405020304" pitchFamily="18" charset="0"/>
                <a:cs typeface="Times New Roman" panose="02020603050405020304" pitchFamily="18" charset="0"/>
              </a:rPr>
              <a: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952346305"/>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B V S Jayadeep   -   2420030381</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S. Anjana             -   2420030499</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Ch. Bhargavi       -   2420030588</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108838424"/>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6"/>
            <a:ext cx="10915650" cy="1234217"/>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756050"/>
            <a:ext cx="10715625" cy="1200329"/>
          </a:xfrm>
          <a:prstGeom prst="rect">
            <a:avLst/>
          </a:prstGeom>
          <a:noFill/>
        </p:spPr>
        <p:txBody>
          <a:bodyPr wrap="square">
            <a:spAutoFit/>
          </a:bodyPr>
          <a:lstStyle/>
          <a:p>
            <a:pPr lvl="0" algn="ctr">
              <a:defRPr/>
            </a:pPr>
            <a:r>
              <a:rPr lang="en-US" sz="3600" dirty="0" err="1">
                <a:solidFill>
                  <a:schemeClr val="bg1"/>
                </a:solidFill>
                <a:latin typeface="Calibri" panose="020F0502020204030204"/>
                <a:cs typeface="Poppins" pitchFamily="2" charset="77"/>
              </a:rPr>
              <a:t>EduFusion</a:t>
            </a:r>
            <a:r>
              <a:rPr lang="en-US" sz="3600" dirty="0">
                <a:solidFill>
                  <a:schemeClr val="bg1"/>
                </a:solidFill>
                <a:latin typeface="Calibri" panose="020F0502020204030204"/>
                <a:cs typeface="Poppins" pitchFamily="2" charset="77"/>
              </a:rPr>
              <a:t> AI: An Intelligent Agentic and Microservices-Based Framework for Smart Campus Optimization</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Research Work</a:t>
            </a:r>
          </a:p>
        </p:txBody>
      </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7"/>
          <a:stretch>
            <a:fillRect/>
          </a:stretch>
        </p:blipFill>
        <p:spPr>
          <a:xfrm>
            <a:off x="10249380" y="0"/>
            <a:ext cx="1901110" cy="622550"/>
          </a:xfrm>
          <a:prstGeom prst="rect">
            <a:avLst/>
          </a:prstGeom>
        </p:spPr>
      </p:pic>
      <p:pic>
        <p:nvPicPr>
          <p:cNvPr id="6" name="Picture 5">
            <a:extLst>
              <a:ext uri="{FF2B5EF4-FFF2-40B4-BE49-F238E27FC236}">
                <a16:creationId xmlns:a16="http://schemas.microsoft.com/office/drawing/2014/main" id="{66E315D2-5931-25D7-CE10-428C6EB97A7A}"/>
              </a:ext>
            </a:extLst>
          </p:cNvPr>
          <p:cNvPicPr>
            <a:picLocks noChangeAspect="1"/>
          </p:cNvPicPr>
          <p:nvPr/>
        </p:nvPicPr>
        <p:blipFill>
          <a:blip r:embed="rId8"/>
          <a:stretch>
            <a:fillRect/>
          </a:stretch>
        </p:blipFill>
        <p:spPr>
          <a:xfrm>
            <a:off x="2463013" y="1171575"/>
            <a:ext cx="7265973" cy="53911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827305" y="382012"/>
            <a:ext cx="4237703"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0E8321F2-A74A-1C35-F2A6-C0762ECA7D17}"/>
              </a:ext>
            </a:extLst>
          </p:cNvPr>
          <p:cNvSpPr txBox="1"/>
          <p:nvPr/>
        </p:nvSpPr>
        <p:spPr>
          <a:xfrm>
            <a:off x="980964" y="1190268"/>
            <a:ext cx="9930384" cy="5447645"/>
          </a:xfrm>
          <a:prstGeom prst="rect">
            <a:avLst/>
          </a:prstGeom>
          <a:noFill/>
        </p:spPr>
        <p:txBody>
          <a:bodyPr wrap="square">
            <a:spAutoFit/>
          </a:bodyPr>
          <a:lstStyle/>
          <a:p>
            <a:pPr algn="just">
              <a:lnSpc>
                <a:spcPct val="150000"/>
              </a:lnSpc>
            </a:pPr>
            <a:r>
              <a:rPr lang="en-IN" sz="2400" dirty="0"/>
              <a:t>Modern educational institutions manage large amounts of data related to students, academics, classrooms, transportation, events, infrastructure, and administration. However, these functions are often handled through isolated systems, resulting in fragmented information, delayed decision-making, limited automation, and inefficient resource utilization.</a:t>
            </a:r>
          </a:p>
          <a:p>
            <a:pPr algn="just">
              <a:lnSpc>
                <a:spcPct val="150000"/>
              </a:lnSpc>
            </a:pPr>
            <a:r>
              <a:rPr lang="en-IN" sz="2400" b="1" dirty="0" err="1"/>
              <a:t>EduFusion</a:t>
            </a:r>
            <a:r>
              <a:rPr lang="en-IN" sz="2400" b="1" dirty="0"/>
              <a:t> AI</a:t>
            </a:r>
            <a:r>
              <a:rPr lang="en-IN" sz="2400" dirty="0"/>
              <a:t> proposes an intelligent agentic and microservices-based framework that integrates campus services with autonomous AI agents to </a:t>
            </a:r>
            <a:r>
              <a:rPr lang="en-IN" sz="2400" dirty="0" err="1"/>
              <a:t>analyze</a:t>
            </a:r>
            <a:r>
              <a:rPr lang="en-IN" sz="2400" dirty="0"/>
              <a:t> real-time information, coordinate tasks, and support intelligent campus-level decision-making.</a:t>
            </a:r>
          </a:p>
          <a:p>
            <a:pPr algn="just"/>
            <a:endParaRPr lang="en-IN" sz="2400" dirty="0"/>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D37A083F-A34B-D786-7846-010DA1CEEF61}"/>
              </a:ext>
            </a:extLst>
          </p:cNvPr>
          <p:cNvSpPr txBox="1"/>
          <p:nvPr/>
        </p:nvSpPr>
        <p:spPr>
          <a:xfrm>
            <a:off x="646176" y="1340198"/>
            <a:ext cx="10899648" cy="4893647"/>
          </a:xfrm>
          <a:prstGeom prst="rect">
            <a:avLst/>
          </a:prstGeom>
          <a:noFill/>
        </p:spPr>
        <p:txBody>
          <a:bodyPr wrap="square">
            <a:spAutoFit/>
          </a:bodyPr>
          <a:lstStyle/>
          <a:p>
            <a:pPr marL="342900" indent="-342900">
              <a:buFont typeface="Arial" panose="020B0604020202020204" pitchFamily="34" charset="0"/>
              <a:buChar char="•"/>
            </a:pPr>
            <a:r>
              <a:rPr lang="en-IN" sz="2400" b="1" dirty="0"/>
              <a:t>Intelligent Agentic Campus Management</a:t>
            </a:r>
          </a:p>
          <a:p>
            <a:r>
              <a:rPr lang="en-IN" sz="2400" dirty="0"/>
              <a:t>To develop an </a:t>
            </a:r>
            <a:r>
              <a:rPr lang="en-IN" sz="2400" b="1" dirty="0"/>
              <a:t>agentic AI layer</a:t>
            </a:r>
            <a:r>
              <a:rPr lang="en-IN" sz="2400" dirty="0"/>
              <a:t> with specialized agents for student assistance, academic support, resource allocation, event coordination, infrastructure monitoring, notifications, and administrative decision support.</a:t>
            </a:r>
          </a:p>
          <a:p>
            <a:pPr marL="342900" indent="-342900">
              <a:buFont typeface="Arial" panose="020B0604020202020204" pitchFamily="34" charset="0"/>
              <a:buChar char="•"/>
            </a:pPr>
            <a:r>
              <a:rPr lang="en-IN" sz="2400" b="1" dirty="0"/>
              <a:t>Scalable Microservices Architecture</a:t>
            </a:r>
          </a:p>
          <a:p>
            <a:r>
              <a:rPr lang="en-IN" sz="2400" dirty="0"/>
              <a:t>To design and implement independent, scalable campus microservices that communicate through well-defined APIs and event-driven mechanisms, providing modularity, fault isolation, maintainability, and scalability.</a:t>
            </a:r>
          </a:p>
          <a:p>
            <a:pPr marL="342900" indent="-342900">
              <a:buFont typeface="Arial" panose="020B0604020202020204" pitchFamily="34" charset="0"/>
              <a:buChar char="•"/>
            </a:pPr>
            <a:r>
              <a:rPr lang="en-IN" sz="2400" b="1" dirty="0"/>
              <a:t>Intelligent Campus Optimization</a:t>
            </a:r>
          </a:p>
          <a:p>
            <a:r>
              <a:rPr lang="en-IN" sz="2400" dirty="0"/>
              <a:t>To integrate campus data processing, prediction, and intelligent decision-making mechanisms to identify requirements, prioritize tasks, recommend suitable actions, and automate repetitive campus workflows</a:t>
            </a:r>
          </a:p>
          <a:p>
            <a:pPr lvl="0"/>
            <a:endParaRPr lang="en-IN" sz="2400"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619045195"/>
              </p:ext>
            </p:extLst>
          </p:nvPr>
        </p:nvGraphicFramePr>
        <p:xfrm>
          <a:off x="276225" y="816722"/>
          <a:ext cx="11636717" cy="5143750"/>
        </p:xfrm>
        <a:graphic>
          <a:graphicData uri="http://schemas.openxmlformats.org/drawingml/2006/table">
            <a:tbl>
              <a:tblPr firstRow="1" bandRow="1">
                <a:tableStyleId>{BC89EF96-8CEA-46FF-86C4-4CE0E7609802}</a:tableStyleId>
              </a:tblPr>
              <a:tblGrid>
                <a:gridCol w="1083018">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37829">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751930">
                <a:tc>
                  <a:txBody>
                    <a:bodyPr/>
                    <a:lstStyle/>
                    <a:p>
                      <a:pPr>
                        <a:buNone/>
                      </a:pPr>
                      <a:r>
                        <a:rPr lang="en-IN" sz="1400" b="1" dirty="0"/>
                        <a:t>Dong et al. (2020)</a:t>
                      </a:r>
                    </a:p>
                  </a:txBody>
                  <a:tcPr anchor="ctr"/>
                </a:tc>
                <a:tc>
                  <a:txBody>
                    <a:bodyPr/>
                    <a:lstStyle/>
                    <a:p>
                      <a:pPr>
                        <a:buNone/>
                      </a:pPr>
                      <a:r>
                        <a:rPr lang="en-IN" sz="1400" b="0" dirty="0"/>
                        <a:t>Smart Campus: Definition, Framework, Technologies, and Services</a:t>
                      </a:r>
                    </a:p>
                  </a:txBody>
                  <a:tcPr anchor="ctr"/>
                </a:tc>
                <a:tc>
                  <a:txBody>
                    <a:bodyPr/>
                    <a:lstStyle/>
                    <a:p>
                      <a:pPr>
                        <a:buNone/>
                      </a:pPr>
                      <a:r>
                        <a:rPr lang="en-IN" sz="1400" dirty="0"/>
                        <a:t>• Reviews smart-campus technologies such as AI, IoT and cloud computing • Proposes a human-centred smart-campus framework • Identifies context-aware and data-driven smart services</a:t>
                      </a:r>
                    </a:p>
                  </a:txBody>
                  <a:tcPr anchor="ctr"/>
                </a:tc>
                <a:tc>
                  <a:txBody>
                    <a:bodyPr/>
                    <a:lstStyle/>
                    <a:p>
                      <a:pPr>
                        <a:buNone/>
                      </a:pPr>
                      <a:r>
                        <a:rPr lang="en-IN" sz="1400" dirty="0"/>
                        <a:t>• Smart campuses require integration of technology, infrastructure and services • Data-driven and context-aware systems can improve campus services</a:t>
                      </a:r>
                    </a:p>
                  </a:txBody>
                  <a:tcPr anchor="ctr"/>
                </a:tc>
                <a:tc>
                  <a:txBody>
                    <a:bodyPr/>
                    <a:lstStyle/>
                    <a:p>
                      <a:pPr>
                        <a:buNone/>
                      </a:pPr>
                      <a:r>
                        <a:rPr lang="en-IN" sz="1400" dirty="0"/>
                        <a:t>• Mainly provides a framework and review • Does not focus on microservice-based agent coordination or autonomous multi-agent campus optimization</a:t>
                      </a:r>
                    </a:p>
                  </a:txBody>
                  <a:tcPr anchor="ctr"/>
                </a:tc>
                <a:extLst>
                  <a:ext uri="{0D108BD9-81ED-4DB2-BD59-A6C34878D82A}">
                    <a16:rowId xmlns:a16="http://schemas.microsoft.com/office/drawing/2014/main" val="2655426370"/>
                  </a:ext>
                </a:extLst>
              </a:tr>
              <a:tr h="1513030">
                <a:tc>
                  <a:txBody>
                    <a:bodyPr/>
                    <a:lstStyle/>
                    <a:p>
                      <a:pPr>
                        <a:buNone/>
                      </a:pPr>
                      <a:r>
                        <a:rPr lang="en-IN" sz="1400" b="1"/>
                        <a:t>Yamao et al. (2019)</a:t>
                      </a:r>
                    </a:p>
                  </a:txBody>
                  <a:tcPr anchor="ctr"/>
                </a:tc>
                <a:tc>
                  <a:txBody>
                    <a:bodyPr/>
                    <a:lstStyle/>
                    <a:p>
                      <a:pPr>
                        <a:buNone/>
                      </a:pPr>
                      <a:r>
                        <a:rPr lang="en-IN" sz="1400" b="0" dirty="0"/>
                        <a:t>Software Architecture Based on Microservices Applied in a Smart Campus Environment</a:t>
                      </a:r>
                    </a:p>
                  </a:txBody>
                  <a:tcPr anchor="ctr"/>
                </a:tc>
                <a:tc>
                  <a:txBody>
                    <a:bodyPr/>
                    <a:lstStyle/>
                    <a:p>
                      <a:pPr>
                        <a:buNone/>
                      </a:pPr>
                      <a:r>
                        <a:rPr lang="en-IN" sz="1400"/>
                        <a:t>• Implements microservice architecture in a smart-campus environment • Uses service-oriented architecture for campus sustainability</a:t>
                      </a:r>
                    </a:p>
                  </a:txBody>
                  <a:tcPr anchor="ctr"/>
                </a:tc>
                <a:tc>
                  <a:txBody>
                    <a:bodyPr/>
                    <a:lstStyle/>
                    <a:p>
                      <a:pPr>
                        <a:buNone/>
                      </a:pPr>
                      <a:r>
                        <a:rPr lang="en-IN" sz="1400" dirty="0"/>
                        <a:t>• Demonstrates that microservices can support independent smart-campus functions • Provides a foundation for scalable campus applications</a:t>
                      </a:r>
                    </a:p>
                  </a:txBody>
                  <a:tcPr anchor="ctr"/>
                </a:tc>
                <a:tc>
                  <a:txBody>
                    <a:bodyPr/>
                    <a:lstStyle/>
                    <a:p>
                      <a:pPr>
                        <a:buNone/>
                      </a:pPr>
                      <a:r>
                        <a:rPr lang="en-IN" sz="1400" dirty="0"/>
                        <a:t>• Focuses mainly on microservice architecture and IoT • Does not integrate autonomous Agentic AI for campus-level decision-making</a:t>
                      </a:r>
                    </a:p>
                  </a:txBody>
                  <a:tcPr anchor="ctr"/>
                </a:tc>
                <a:extLst>
                  <a:ext uri="{0D108BD9-81ED-4DB2-BD59-A6C34878D82A}">
                    <a16:rowId xmlns:a16="http://schemas.microsoft.com/office/drawing/2014/main" val="2841575018"/>
                  </a:ext>
                </a:extLst>
              </a:tr>
              <a:tr h="1513030">
                <a:tc>
                  <a:txBody>
                    <a:bodyPr/>
                    <a:lstStyle/>
                    <a:p>
                      <a:pPr>
                        <a:buNone/>
                      </a:pPr>
                      <a:r>
                        <a:rPr lang="en-IN" sz="1400" b="1" dirty="0"/>
                        <a:t>Kostopoulos et al. (2025)</a:t>
                      </a:r>
                    </a:p>
                  </a:txBody>
                  <a:tcPr anchor="ctr"/>
                </a:tc>
                <a:tc>
                  <a:txBody>
                    <a:bodyPr/>
                    <a:lstStyle/>
                    <a:p>
                      <a:pPr>
                        <a:buNone/>
                      </a:pPr>
                      <a:r>
                        <a:rPr lang="en-IN" sz="1400" dirty="0"/>
                        <a:t>Agentic AI in Education: State of the Art and Future Directions</a:t>
                      </a:r>
                    </a:p>
                  </a:txBody>
                  <a:tcPr anchor="ctr"/>
                </a:tc>
                <a:tc>
                  <a:txBody>
                    <a:bodyPr/>
                    <a:lstStyle/>
                    <a:p>
                      <a:pPr>
                        <a:buNone/>
                      </a:pPr>
                      <a:r>
                        <a:rPr lang="en-IN" sz="1400" dirty="0"/>
                        <a:t>• Surveys autonomous, goal-oriented AI systems in education • Examines intelligent tutoring, adaptive testing and autonomous learning assistance</a:t>
                      </a:r>
                    </a:p>
                  </a:txBody>
                  <a:tcPr anchor="ctr"/>
                </a:tc>
                <a:tc>
                  <a:txBody>
                    <a:bodyPr/>
                    <a:lstStyle/>
                    <a:p>
                      <a:pPr>
                        <a:buNone/>
                      </a:pPr>
                      <a:r>
                        <a:rPr lang="en-IN" sz="1400" dirty="0"/>
                        <a:t>• Agentic AI can operate with limited human intervention • Agents can adapt to changing educational contexts</a:t>
                      </a:r>
                    </a:p>
                  </a:txBody>
                  <a:tcPr anchor="ctr"/>
                </a:tc>
                <a:tc>
                  <a:txBody>
                    <a:bodyPr/>
                    <a:lstStyle/>
                    <a:p>
                      <a:pPr>
                        <a:buNone/>
                      </a:pPr>
                      <a:r>
                        <a:rPr lang="en-IN" sz="1400" dirty="0"/>
                        <a:t>• Focuses primarily on educational/learning applications • Integrated agentic AI with campus infrastructure and microservices remains an open opportunity</a:t>
                      </a:r>
                    </a:p>
                  </a:txBody>
                  <a:tcPr anchor="ctr"/>
                </a:tc>
                <a:extLst>
                  <a:ext uri="{0D108BD9-81ED-4DB2-BD59-A6C34878D82A}">
                    <a16:rowId xmlns:a16="http://schemas.microsoft.com/office/drawing/2014/main" val="716574522"/>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fld id="{022A9A8C-9B92-4D48-A6C8-6870D9F00B9F}" type="datetime3">
              <a:rPr lang="en-US" smtClean="0"/>
              <a:t>19 August 2026</a:t>
            </a:fld>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a:t>Ph.D. Viva Voce</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311275"/>
            <a:ext cx="6096000" cy="646331"/>
          </a:xfrm>
          <a:prstGeom prst="rect">
            <a:avLst/>
          </a:prstGeom>
          <a:noFill/>
        </p:spPr>
        <p:txBody>
          <a:bodyPr wrap="square">
            <a:spAutoFit/>
          </a:bodyPr>
          <a:lstStyle/>
          <a:p>
            <a:pPr algn="ctr"/>
            <a:r>
              <a:rPr lang="en-US" sz="3600" b="1" dirty="0"/>
              <a:t>Research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6" name="Content Placeholder 3">
            <a:extLst>
              <a:ext uri="{FF2B5EF4-FFF2-40B4-BE49-F238E27FC236}">
                <a16:creationId xmlns:a16="http://schemas.microsoft.com/office/drawing/2014/main" id="{8AEA3938-43F5-D528-1008-AE083DFC2A8B}"/>
              </a:ext>
            </a:extLst>
          </p:cNvPr>
          <p:cNvGraphicFramePr>
            <a:graphicFrameLocks/>
          </p:cNvGraphicFramePr>
          <p:nvPr>
            <p:extLst>
              <p:ext uri="{D42A27DB-BD31-4B8C-83A1-F6EECF244321}">
                <p14:modId xmlns:p14="http://schemas.microsoft.com/office/powerpoint/2010/main" val="1809119367"/>
              </p:ext>
            </p:extLst>
          </p:nvPr>
        </p:nvGraphicFramePr>
        <p:xfrm>
          <a:off x="527304" y="1328667"/>
          <a:ext cx="11137392" cy="4481499"/>
        </p:xfrm>
        <a:graphic>
          <a:graphicData uri="http://schemas.openxmlformats.org/drawingml/2006/table">
            <a:tbl>
              <a:tblPr firstRow="1" bandRow="1">
                <a:tableStyleId>{BC89EF96-8CEA-46FF-86C4-4CE0E7609802}</a:tableStyleId>
              </a:tblPr>
              <a:tblGrid>
                <a:gridCol w="2273046">
                  <a:extLst>
                    <a:ext uri="{9D8B030D-6E8A-4147-A177-3AD203B41FA5}">
                      <a16:colId xmlns:a16="http://schemas.microsoft.com/office/drawing/2014/main" val="20001"/>
                    </a:ext>
                  </a:extLst>
                </a:gridCol>
                <a:gridCol w="4131797">
                  <a:extLst>
                    <a:ext uri="{9D8B030D-6E8A-4147-A177-3AD203B41FA5}">
                      <a16:colId xmlns:a16="http://schemas.microsoft.com/office/drawing/2014/main" val="20002"/>
                    </a:ext>
                  </a:extLst>
                </a:gridCol>
                <a:gridCol w="4732549">
                  <a:extLst>
                    <a:ext uri="{9D8B030D-6E8A-4147-A177-3AD203B41FA5}">
                      <a16:colId xmlns:a16="http://schemas.microsoft.com/office/drawing/2014/main" val="20003"/>
                    </a:ext>
                  </a:extLst>
                </a:gridCol>
              </a:tblGrid>
              <a:tr h="326019">
                <a:tc>
                  <a:txBody>
                    <a:bodyPr/>
                    <a:lstStyle/>
                    <a:p>
                      <a:pPr algn="ctr">
                        <a:buNone/>
                      </a:pPr>
                      <a:r>
                        <a:rPr lang="en-IN" dirty="0"/>
                        <a:t>Existing Research</a:t>
                      </a:r>
                    </a:p>
                  </a:txBody>
                  <a:tcPr anchor="ctr">
                    <a:solidFill>
                      <a:srgbClr val="FFFF00"/>
                    </a:solidFill>
                  </a:tcPr>
                </a:tc>
                <a:tc>
                  <a:txBody>
                    <a:bodyPr/>
                    <a:lstStyle/>
                    <a:p>
                      <a:pPr algn="ctr">
                        <a:buNone/>
                      </a:pPr>
                      <a:r>
                        <a:rPr lang="en-IN" dirty="0"/>
                        <a:t>Identified Gap</a:t>
                      </a:r>
                    </a:p>
                  </a:txBody>
                  <a:tcPr anchor="ctr">
                    <a:solidFill>
                      <a:srgbClr val="FFFF00"/>
                    </a:solidFill>
                  </a:tcPr>
                </a:tc>
                <a:tc>
                  <a:txBody>
                    <a:bodyPr/>
                    <a:lstStyle/>
                    <a:p>
                      <a:pPr algn="ctr">
                        <a:buNone/>
                      </a:pPr>
                      <a:r>
                        <a:rPr lang="en-IN" dirty="0"/>
                        <a:t>Proposed Work</a:t>
                      </a:r>
                    </a:p>
                  </a:txBody>
                  <a:tcPr anchor="ctr">
                    <a:solidFill>
                      <a:srgbClr val="FFFF00"/>
                    </a:solidFill>
                  </a:tcPr>
                </a:tc>
                <a:extLst>
                  <a:ext uri="{0D108BD9-81ED-4DB2-BD59-A6C34878D82A}">
                    <a16:rowId xmlns:a16="http://schemas.microsoft.com/office/drawing/2014/main" val="10000"/>
                  </a:ext>
                </a:extLst>
              </a:tr>
              <a:tr h="1396245">
                <a:tc>
                  <a:txBody>
                    <a:bodyPr/>
                    <a:lstStyle/>
                    <a:p>
                      <a:pPr algn="ctr">
                        <a:buNone/>
                      </a:pPr>
                      <a:r>
                        <a:rPr lang="en-IN" b="1" dirty="0"/>
                        <a:t>Smart-campus frameworks and technology integration</a:t>
                      </a:r>
                    </a:p>
                  </a:txBody>
                  <a:tcPr anchor="ctr"/>
                </a:tc>
                <a:tc>
                  <a:txBody>
                    <a:bodyPr/>
                    <a:lstStyle/>
                    <a:p>
                      <a:pPr algn="ctr">
                        <a:buNone/>
                      </a:pPr>
                      <a:r>
                        <a:rPr lang="en-IN" dirty="0"/>
                        <a:t>Limited autonomous coordination across different campus functions</a:t>
                      </a:r>
                    </a:p>
                  </a:txBody>
                  <a:tcPr anchor="ctr"/>
                </a:tc>
                <a:tc>
                  <a:txBody>
                    <a:bodyPr/>
                    <a:lstStyle/>
                    <a:p>
                      <a:pPr algn="ctr">
                        <a:buNone/>
                      </a:pPr>
                      <a:r>
                        <a:rPr lang="en-IN" b="0" dirty="0"/>
                        <a:t>Agentic AI-driven campus coordination</a:t>
                      </a:r>
                    </a:p>
                  </a:txBody>
                  <a:tcPr anchor="ctr"/>
                </a:tc>
                <a:extLst>
                  <a:ext uri="{0D108BD9-81ED-4DB2-BD59-A6C34878D82A}">
                    <a16:rowId xmlns:a16="http://schemas.microsoft.com/office/drawing/2014/main" val="3832375656"/>
                  </a:ext>
                </a:extLst>
              </a:tr>
              <a:tr h="1370858">
                <a:tc>
                  <a:txBody>
                    <a:bodyPr/>
                    <a:lstStyle/>
                    <a:p>
                      <a:pPr algn="ctr">
                        <a:buNone/>
                      </a:pPr>
                      <a:r>
                        <a:rPr lang="en-IN" b="1"/>
                        <a:t>Microservices-based smart-campus systems</a:t>
                      </a:r>
                    </a:p>
                  </a:txBody>
                  <a:tcPr anchor="ctr"/>
                </a:tc>
                <a:tc>
                  <a:txBody>
                    <a:bodyPr/>
                    <a:lstStyle/>
                    <a:p>
                      <a:pPr algn="ctr">
                        <a:buNone/>
                      </a:pPr>
                      <a:r>
                        <a:rPr lang="en-IN" dirty="0"/>
                        <a:t>Microservices generally provide modular services but lack intelligent agent-based decision-making</a:t>
                      </a:r>
                    </a:p>
                  </a:txBody>
                  <a:tcPr anchor="ctr"/>
                </a:tc>
                <a:tc>
                  <a:txBody>
                    <a:bodyPr/>
                    <a:lstStyle/>
                    <a:p>
                      <a:pPr algn="ctr">
                        <a:buNone/>
                      </a:pPr>
                      <a:r>
                        <a:rPr lang="en-IN" b="0" dirty="0"/>
                        <a:t>AI agents interacting directly with campus microservices</a:t>
                      </a:r>
                    </a:p>
                  </a:txBody>
                  <a:tcPr anchor="ctr"/>
                </a:tc>
                <a:extLst>
                  <a:ext uri="{0D108BD9-81ED-4DB2-BD59-A6C34878D82A}">
                    <a16:rowId xmlns:a16="http://schemas.microsoft.com/office/drawing/2014/main" val="2655426370"/>
                  </a:ext>
                </a:extLst>
              </a:tr>
              <a:tr h="1348636">
                <a:tc>
                  <a:txBody>
                    <a:bodyPr/>
                    <a:lstStyle/>
                    <a:p>
                      <a:pPr algn="ctr">
                        <a:buNone/>
                      </a:pPr>
                      <a:r>
                        <a:rPr lang="en-IN" b="1" dirty="0"/>
                        <a:t>Agentic AI in education</a:t>
                      </a:r>
                    </a:p>
                  </a:txBody>
                  <a:tcPr anchor="ctr"/>
                </a:tc>
                <a:tc>
                  <a:txBody>
                    <a:bodyPr/>
                    <a:lstStyle/>
                    <a:p>
                      <a:pPr algn="ctr">
                        <a:buNone/>
                      </a:pPr>
                      <a:r>
                        <a:rPr lang="en-IN"/>
                        <a:t>Existing work focuses mainly on learning, tutoring and student assistance</a:t>
                      </a:r>
                    </a:p>
                  </a:txBody>
                  <a:tcPr anchor="ctr"/>
                </a:tc>
                <a:tc>
                  <a:txBody>
                    <a:bodyPr/>
                    <a:lstStyle/>
                    <a:p>
                      <a:pPr algn="ctr">
                        <a:buNone/>
                      </a:pPr>
                      <a:r>
                        <a:rPr lang="en-IN" b="0" dirty="0"/>
                        <a:t>Agentic AI extended to campus-wide operational optimization</a:t>
                      </a:r>
                    </a:p>
                  </a:txBody>
                  <a:tcPr anchor="ctr"/>
                </a:tc>
                <a:extLst>
                  <a:ext uri="{0D108BD9-81ED-4DB2-BD59-A6C34878D82A}">
                    <a16:rowId xmlns:a16="http://schemas.microsoft.com/office/drawing/2014/main" val="2841575018"/>
                  </a:ext>
                </a:extLst>
              </a:tr>
            </a:tbl>
          </a:graphicData>
        </a:graphic>
      </p:graphicFrame>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311275"/>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CEB75B6A-1B76-6D20-FE81-5592D0254759}"/>
              </a:ext>
            </a:extLst>
          </p:cNvPr>
          <p:cNvSpPr txBox="1"/>
          <p:nvPr/>
        </p:nvSpPr>
        <p:spPr>
          <a:xfrm>
            <a:off x="893063" y="1094810"/>
            <a:ext cx="10405872" cy="5078313"/>
          </a:xfrm>
          <a:prstGeom prst="rect">
            <a:avLst/>
          </a:prstGeom>
          <a:noFill/>
        </p:spPr>
        <p:txBody>
          <a:bodyPr wrap="square">
            <a:spAutoFit/>
          </a:bodyPr>
          <a:lstStyle/>
          <a:p>
            <a:r>
              <a:rPr lang="en-IN" b="1" dirty="0"/>
              <a:t>1. Autonomous Multi-Agent Campus Coordination</a:t>
            </a:r>
          </a:p>
          <a:p>
            <a:r>
              <a:rPr lang="en-IN" dirty="0"/>
              <a:t>Specialized AI agents will independently </a:t>
            </a:r>
            <a:r>
              <a:rPr lang="en-IN" dirty="0" err="1"/>
              <a:t>analyze</a:t>
            </a:r>
            <a:r>
              <a:rPr lang="en-IN" dirty="0"/>
              <a:t> campus requirements, communicate with relevant microservices, and coordinate with other agents to accomplish complex campus-level tasks.</a:t>
            </a:r>
          </a:p>
          <a:p>
            <a:r>
              <a:rPr lang="en-IN" b="1" dirty="0"/>
              <a:t>2. Agent-to-Microservice Intelligent Interaction</a:t>
            </a:r>
          </a:p>
          <a:p>
            <a:r>
              <a:rPr lang="en-IN" dirty="0"/>
              <a:t>AI agents will not operate as isolated chatbots. They will interact with independent campus services through APIs and real-time/event-driven communication.</a:t>
            </a:r>
          </a:p>
          <a:p>
            <a:r>
              <a:rPr lang="en-IN" b="1" dirty="0"/>
              <a:t>3. Predictive and Proactive Campus Optimization</a:t>
            </a:r>
          </a:p>
          <a:p>
            <a:r>
              <a:rPr lang="en-IN" dirty="0"/>
              <a:t>The system will </a:t>
            </a:r>
            <a:r>
              <a:rPr lang="en-IN" dirty="0" err="1"/>
              <a:t>analyze</a:t>
            </a:r>
            <a:r>
              <a:rPr lang="en-IN" dirty="0"/>
              <a:t> campus information to identify operational requirements, prioritize tasks, recommend actions, and automate repetitive workflows rather than simply displaying existing information.</a:t>
            </a:r>
          </a:p>
          <a:p>
            <a:r>
              <a:rPr lang="en-IN" b="1" dirty="0"/>
              <a:t>Self-Healing Microservices</a:t>
            </a:r>
          </a:p>
          <a:p>
            <a:r>
              <a:rPr lang="en-IN" dirty="0"/>
              <a:t>A service-monitoring mechanism can detect failed services and support recovery so that failure of one campus service does not bring down the complete system.</a:t>
            </a:r>
          </a:p>
          <a:p>
            <a:r>
              <a:rPr lang="en-IN" b="1" dirty="0"/>
              <a:t>5. Unified Intelligent Campus Platform</a:t>
            </a:r>
          </a:p>
          <a:p>
            <a:r>
              <a:rPr lang="en-IN" dirty="0" err="1"/>
              <a:t>EduFusion</a:t>
            </a:r>
            <a:r>
              <a:rPr lang="en-IN" dirty="0"/>
              <a:t> AI combines:</a:t>
            </a:r>
          </a:p>
          <a:p>
            <a:r>
              <a:rPr lang="en-IN" b="1" dirty="0"/>
              <a:t>Students + Faculty + Administration + Resources + Infrastructure</a:t>
            </a:r>
            <a:endParaRPr lang="en-IN" dirty="0"/>
          </a:p>
          <a:p>
            <a:r>
              <a:rPr lang="en-IN" dirty="0"/>
              <a:t>within one intelligent platform instead of treating each campus function as an isolated application.</a:t>
            </a:r>
          </a:p>
          <a:p>
            <a:endParaRPr lang="en-IN" dirty="0"/>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578804" y="149201"/>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11" name="TextBox 10">
            <a:extLst>
              <a:ext uri="{FF2B5EF4-FFF2-40B4-BE49-F238E27FC236}">
                <a16:creationId xmlns:a16="http://schemas.microsoft.com/office/drawing/2014/main" id="{CE9D5152-249E-F337-1F1B-B8C6DA5A0B78}"/>
              </a:ext>
            </a:extLst>
          </p:cNvPr>
          <p:cNvSpPr txBox="1"/>
          <p:nvPr/>
        </p:nvSpPr>
        <p:spPr>
          <a:xfrm>
            <a:off x="408931" y="857087"/>
            <a:ext cx="6489192" cy="6155531"/>
          </a:xfrm>
          <a:prstGeom prst="rect">
            <a:avLst/>
          </a:prstGeom>
          <a:noFill/>
        </p:spPr>
        <p:txBody>
          <a:bodyPr wrap="square">
            <a:spAutoFit/>
          </a:bodyPr>
          <a:lstStyle/>
          <a:p>
            <a:r>
              <a:rPr lang="en-IN" sz="1400" b="1" dirty="0"/>
              <a:t>Technical Feasibility</a:t>
            </a:r>
          </a:p>
          <a:p>
            <a:r>
              <a:rPr lang="en-IN" sz="1400" dirty="0"/>
              <a:t>Can be implemented using:</a:t>
            </a:r>
          </a:p>
          <a:p>
            <a:r>
              <a:rPr lang="en-IN" sz="1400" dirty="0"/>
              <a:t>Java, Spring Boot, Spring Cloud, React, PostgreSQL, Python, AI/ML libraries, REST APIs, Docker and Postman.</a:t>
            </a:r>
          </a:p>
          <a:p>
            <a:r>
              <a:rPr lang="en-IN" sz="1400" dirty="0"/>
              <a:t>The proposed architecture uses independently deployable services, APIs, event-driven mechanisms, gateway-based access and centralized monitoring. </a:t>
            </a:r>
          </a:p>
          <a:p>
            <a:r>
              <a:rPr lang="en-IN" sz="1400" b="1" dirty="0"/>
              <a:t>Economic Feasibility</a:t>
            </a:r>
          </a:p>
          <a:p>
            <a:r>
              <a:rPr lang="en-IN" sz="1400" dirty="0"/>
              <a:t>The prototype can be developed using open-source software and simulated campus datasets, without requiring expensive physical campus infrastructure.</a:t>
            </a:r>
          </a:p>
          <a:p>
            <a:r>
              <a:rPr lang="en-IN" sz="1400" b="1" dirty="0"/>
              <a:t>Operational Feasibility</a:t>
            </a:r>
          </a:p>
          <a:p>
            <a:r>
              <a:rPr lang="en-IN" sz="1400" dirty="0"/>
              <a:t>The system can be demonstrated using simulated campus activities such as:</a:t>
            </a:r>
          </a:p>
          <a:p>
            <a:pPr marL="171450" lvl="0" indent="-171450">
              <a:buFont typeface="Arial" panose="020B0604020202020204" pitchFamily="34" charset="0"/>
              <a:buChar char="•"/>
            </a:pPr>
            <a:r>
              <a:rPr lang="en-IN" sz="1400" dirty="0"/>
              <a:t>Student requests </a:t>
            </a:r>
          </a:p>
          <a:p>
            <a:pPr marL="171450" lvl="0" indent="-171450">
              <a:buFont typeface="Arial" panose="020B0604020202020204" pitchFamily="34" charset="0"/>
              <a:buChar char="•"/>
            </a:pPr>
            <a:r>
              <a:rPr lang="en-IN" sz="1400" dirty="0"/>
              <a:t>Classroom allocation </a:t>
            </a:r>
          </a:p>
          <a:p>
            <a:pPr marL="171450" lvl="0" indent="-171450">
              <a:buFont typeface="Arial" panose="020B0604020202020204" pitchFamily="34" charset="0"/>
              <a:buChar char="•"/>
            </a:pPr>
            <a:r>
              <a:rPr lang="en-IN" sz="1400" dirty="0"/>
              <a:t>Attendance monitoring </a:t>
            </a:r>
          </a:p>
          <a:p>
            <a:pPr marL="171450" lvl="0" indent="-171450">
              <a:buFont typeface="Arial" panose="020B0604020202020204" pitchFamily="34" charset="0"/>
              <a:buChar char="•"/>
            </a:pPr>
            <a:r>
              <a:rPr lang="en-IN" sz="1400" dirty="0"/>
              <a:t>Resource utilization </a:t>
            </a:r>
          </a:p>
          <a:p>
            <a:pPr marL="171450" lvl="0" indent="-171450">
              <a:buFont typeface="Arial" panose="020B0604020202020204" pitchFamily="34" charset="0"/>
              <a:buChar char="•"/>
            </a:pPr>
            <a:r>
              <a:rPr lang="en-IN" sz="1400" dirty="0"/>
              <a:t>Event coordination </a:t>
            </a:r>
          </a:p>
          <a:p>
            <a:pPr marL="171450" lvl="0" indent="-171450">
              <a:buFont typeface="Arial" panose="020B0604020202020204" pitchFamily="34" charset="0"/>
              <a:buChar char="•"/>
            </a:pPr>
            <a:r>
              <a:rPr lang="en-IN" sz="1400" dirty="0"/>
              <a:t>Infrastructure alerts </a:t>
            </a:r>
          </a:p>
          <a:p>
            <a:pPr marL="171450" lvl="0" indent="-171450">
              <a:buFont typeface="Arial" panose="020B0604020202020204" pitchFamily="34" charset="0"/>
              <a:buChar char="•"/>
            </a:pPr>
            <a:r>
              <a:rPr lang="en-IN" sz="1400" dirty="0"/>
              <a:t>Notifications </a:t>
            </a:r>
          </a:p>
          <a:p>
            <a:r>
              <a:rPr lang="en-IN" sz="1400" b="1" dirty="0"/>
              <a:t>Research Feasibility</a:t>
            </a:r>
          </a:p>
          <a:p>
            <a:r>
              <a:rPr lang="en-IN" sz="1400" dirty="0"/>
              <a:t>The system can be evaluated using:</a:t>
            </a:r>
          </a:p>
          <a:p>
            <a:pPr marL="171450" lvl="0" indent="-171450">
              <a:buFont typeface="Arial" panose="020B0604020202020204" pitchFamily="34" charset="0"/>
              <a:buChar char="•"/>
            </a:pPr>
            <a:r>
              <a:rPr lang="en-IN" sz="1400" dirty="0"/>
              <a:t>Response time </a:t>
            </a:r>
          </a:p>
          <a:p>
            <a:pPr marL="171450" lvl="0" indent="-171450">
              <a:buFont typeface="Arial" panose="020B0604020202020204" pitchFamily="34" charset="0"/>
              <a:buChar char="•"/>
            </a:pPr>
            <a:r>
              <a:rPr lang="en-IN" sz="1400" dirty="0"/>
              <a:t>Resource utilization </a:t>
            </a:r>
          </a:p>
          <a:p>
            <a:pPr marL="171450" lvl="0" indent="-171450">
              <a:buFont typeface="Arial" panose="020B0604020202020204" pitchFamily="34" charset="0"/>
              <a:buChar char="•"/>
            </a:pPr>
            <a:r>
              <a:rPr lang="en-IN" sz="1400" dirty="0"/>
              <a:t>Prediction accuracy </a:t>
            </a:r>
          </a:p>
          <a:p>
            <a:pPr marL="171450" lvl="0" indent="-171450">
              <a:buFont typeface="Arial" panose="020B0604020202020204" pitchFamily="34" charset="0"/>
              <a:buChar char="•"/>
            </a:pPr>
            <a:r>
              <a:rPr lang="en-IN" sz="1400" dirty="0"/>
              <a:t>Task completion rate </a:t>
            </a:r>
          </a:p>
          <a:p>
            <a:pPr marL="171450" lvl="0" indent="-171450">
              <a:buFont typeface="Arial" panose="020B0604020202020204" pitchFamily="34" charset="0"/>
              <a:buChar char="•"/>
            </a:pPr>
            <a:r>
              <a:rPr lang="en-IN" sz="1400" dirty="0"/>
              <a:t>Service availability </a:t>
            </a:r>
          </a:p>
          <a:p>
            <a:pPr marL="171450" lvl="0" indent="-171450">
              <a:buFont typeface="Arial" panose="020B0604020202020204" pitchFamily="34" charset="0"/>
              <a:buChar char="•"/>
            </a:pPr>
            <a:r>
              <a:rPr lang="en-IN" sz="1400" dirty="0"/>
              <a:t>Recommendation accuracy </a:t>
            </a:r>
          </a:p>
          <a:p>
            <a:pPr marL="171450" lvl="0" indent="-171450">
              <a:buFont typeface="Arial" panose="020B0604020202020204" pitchFamily="34" charset="0"/>
              <a:buChar char="•"/>
            </a:pPr>
            <a:r>
              <a:rPr lang="en-IN" sz="1400" dirty="0"/>
              <a:t>Reduction in manual intervention</a:t>
            </a:r>
          </a:p>
          <a:p>
            <a:pPr lvl="0"/>
            <a:endParaRPr lang="en-IN" sz="1600" dirty="0"/>
          </a:p>
        </p:txBody>
      </p:sp>
      <p:sp>
        <p:nvSpPr>
          <p:cNvPr id="2" name="TextBox 1">
            <a:extLst>
              <a:ext uri="{FF2B5EF4-FFF2-40B4-BE49-F238E27FC236}">
                <a16:creationId xmlns:a16="http://schemas.microsoft.com/office/drawing/2014/main" id="{8251F599-F346-2833-9FD5-DB4D559B9450}"/>
              </a:ext>
            </a:extLst>
          </p:cNvPr>
          <p:cNvSpPr txBox="1"/>
          <p:nvPr/>
        </p:nvSpPr>
        <p:spPr>
          <a:xfrm>
            <a:off x="6898123" y="822604"/>
            <a:ext cx="5307253" cy="5755422"/>
          </a:xfrm>
          <a:prstGeom prst="rect">
            <a:avLst/>
          </a:prstGeom>
          <a:noFill/>
        </p:spPr>
        <p:txBody>
          <a:bodyPr wrap="square" rtlCol="0">
            <a:spAutoFit/>
          </a:bodyPr>
          <a:lstStyle/>
          <a:p>
            <a:r>
              <a:rPr lang="en-IN" sz="1600" b="1" dirty="0"/>
              <a:t>Project Plan</a:t>
            </a:r>
          </a:p>
          <a:p>
            <a:r>
              <a:rPr lang="en-IN" sz="1400" b="1" dirty="0"/>
              <a:t>Phase 1: Research &amp; System Design — Weeks 1–2</a:t>
            </a:r>
            <a:endParaRPr lang="en-IN" sz="1400" dirty="0"/>
          </a:p>
          <a:p>
            <a:r>
              <a:rPr lang="en-IN" sz="1400" dirty="0"/>
              <a:t>		            ↓</a:t>
            </a:r>
          </a:p>
          <a:p>
            <a:r>
              <a:rPr lang="en-IN" sz="1400" dirty="0"/>
              <a:t>Requirement analysis, literature survey, architecture design, </a:t>
            </a:r>
          </a:p>
          <a:p>
            <a:r>
              <a:rPr lang="en-IN" sz="1400" dirty="0"/>
              <a:t>database design.</a:t>
            </a:r>
          </a:p>
          <a:p>
            <a:r>
              <a:rPr lang="en-IN" sz="1400" b="1" dirty="0"/>
              <a:t>Phase 2: Microservices Development — Weeks 3–5</a:t>
            </a:r>
            <a:endParaRPr lang="en-IN" sz="1400" dirty="0"/>
          </a:p>
          <a:p>
            <a:r>
              <a:rPr lang="en-IN" sz="1400" dirty="0"/>
              <a:t>		            ↓</a:t>
            </a:r>
          </a:p>
          <a:p>
            <a:r>
              <a:rPr lang="en-IN" sz="1400" dirty="0"/>
              <a:t>Student, Faculty, Classroom, Attendance, Notification </a:t>
            </a:r>
          </a:p>
          <a:p>
            <a:r>
              <a:rPr lang="en-IN" sz="1400" dirty="0"/>
              <a:t>and Resource services.</a:t>
            </a:r>
          </a:p>
          <a:p>
            <a:r>
              <a:rPr lang="en-IN" sz="1400" b="1" dirty="0"/>
              <a:t>Phase 3: API Gateway &amp; Service Communication — Week 6</a:t>
            </a:r>
            <a:endParaRPr lang="en-IN" sz="1400" dirty="0"/>
          </a:p>
          <a:p>
            <a:r>
              <a:rPr lang="en-IN" sz="1400" dirty="0"/>
              <a:t>		            ↓</a:t>
            </a:r>
          </a:p>
          <a:p>
            <a:r>
              <a:rPr lang="en-IN" sz="1400" dirty="0"/>
              <a:t>API Gateway, authentication, REST APIs, event-driven </a:t>
            </a:r>
          </a:p>
          <a:p>
            <a:r>
              <a:rPr lang="en-IN" sz="1400" dirty="0"/>
              <a:t>communication and service monitoring.</a:t>
            </a:r>
          </a:p>
          <a:p>
            <a:r>
              <a:rPr lang="en-IN" sz="1400" b="1" dirty="0"/>
              <a:t>Phase 4: Agentic AI Development — Weeks 7–8</a:t>
            </a:r>
            <a:endParaRPr lang="en-IN" sz="1400" dirty="0"/>
          </a:p>
          <a:p>
            <a:r>
              <a:rPr lang="en-IN" sz="1400" dirty="0"/>
              <a:t>		            ↓</a:t>
            </a:r>
          </a:p>
          <a:p>
            <a:r>
              <a:rPr lang="en-IN" sz="1400" dirty="0"/>
              <a:t>AI Coordinator + specialized agents for student assistance, </a:t>
            </a:r>
          </a:p>
          <a:p>
            <a:r>
              <a:rPr lang="en-IN" sz="1400" dirty="0"/>
              <a:t>resource allocation, attendance, infrastructure and notifications.</a:t>
            </a:r>
          </a:p>
          <a:p>
            <a:r>
              <a:rPr lang="en-IN" sz="1400" b="1" dirty="0"/>
              <a:t>Phase 5: Prediction &amp; Optimization — Week 9</a:t>
            </a:r>
            <a:endParaRPr lang="en-IN" sz="1400" dirty="0"/>
          </a:p>
          <a:p>
            <a:r>
              <a:rPr lang="en-IN" sz="1400" dirty="0"/>
              <a:t>		             ↓</a:t>
            </a:r>
          </a:p>
          <a:p>
            <a:r>
              <a:rPr lang="en-IN" sz="1400" dirty="0"/>
              <a:t>Campus data processing, prediction models, intelligent </a:t>
            </a:r>
          </a:p>
          <a:p>
            <a:r>
              <a:rPr lang="en-IN" sz="1400" dirty="0"/>
              <a:t>recommendations and optimization.</a:t>
            </a:r>
          </a:p>
          <a:p>
            <a:r>
              <a:rPr lang="en-IN" sz="1400" b="1" dirty="0"/>
              <a:t>Phase 6: Frontend, Testing &amp; Documentation — Weeks 10–12</a:t>
            </a:r>
            <a:endParaRPr lang="en-IN" sz="1400" dirty="0"/>
          </a:p>
          <a:p>
            <a:r>
              <a:rPr lang="en-IN" sz="1400" dirty="0"/>
              <a:t>		              ↓</a:t>
            </a:r>
          </a:p>
          <a:p>
            <a:r>
              <a:rPr lang="en-IN" sz="1400" dirty="0"/>
              <a:t>React dashboard, integration testing, performance evaluation, </a:t>
            </a:r>
          </a:p>
          <a:p>
            <a:r>
              <a:rPr lang="en-IN" sz="1400" dirty="0" err="1"/>
              <a:t>Dockerization</a:t>
            </a:r>
            <a:r>
              <a:rPr lang="en-IN" sz="1400" dirty="0"/>
              <a:t> and final documentation.</a:t>
            </a:r>
          </a:p>
          <a:p>
            <a:endParaRPr lang="en-IN" dirty="0"/>
          </a:p>
        </p:txBody>
      </p:sp>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1029</Words>
  <Application>Microsoft Office PowerPoint</Application>
  <PresentationFormat>Widescreen</PresentationFormat>
  <Paragraphs>128</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CH BHARGAVI</cp:lastModifiedBy>
  <cp:revision>34</cp:revision>
  <dcterms:created xsi:type="dcterms:W3CDTF">2026-08-08T06:33:56Z</dcterms:created>
  <dcterms:modified xsi:type="dcterms:W3CDTF">2026-08-19T09:29:16Z</dcterms:modified>
</cp:coreProperties>
</file>